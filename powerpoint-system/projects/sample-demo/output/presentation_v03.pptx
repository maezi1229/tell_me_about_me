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四半期出荷件数（千件）</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dPt>
            <c:idx val="3"/>
            <c:invertIfNegative val="0"/>
            <c:bubble3D val="0"/>
            <c:spPr>
              <a:solidFill>
                <a:srgbClr val="8FAADC"/>
              </a:solidFill>
              <a:effectLst/>
            </c:spPr>
          </c:dPt>
          <c:cat>
            <c:multiLvlStrRef>
              <c:f>Sheet1!$A$2:$A$5</c:f>
              <c:multiLvlStrCache>
                <c:ptCount val="4"/>
                <c:lvl>
                  <c:pt idx="0">
                    <c:v>2025 Q1</c:v>
                  </c:pt>
                  <c:pt idx="1">
                    <c:v>2025 Q2</c:v>
                  </c:pt>
                  <c:pt idx="2">
                    <c:v>2025 Q3</c:v>
                  </c:pt>
                  <c:pt idx="3">
                    <c:v>2025 Q4</c:v>
                  </c:pt>
                </c:lvl>
              </c:multiLvlStrCache>
            </c:multiLvlStrRef>
          </c:cat>
          <c:val>
            <c:numRef>
              <c:f>Sheet1!$B$2:$B$5</c:f>
              <c:numCache>
                <c:formatCode>General</c:formatCode>
                <c:ptCount val="4"/>
                <c:pt idx="0">
                  <c:v>1200</c:v>
                </c:pt>
                <c:pt idx="1">
                  <c:v>1350</c:v>
                </c:pt>
                <c:pt idx="2">
                  <c:v>1500</c:v>
                </c:pt>
                <c:pt idx="3">
                  <c:v>1720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【目的】自己紹介と本日のゴール（6週間パイロットへの合意）を明確にする
【トーク】
- 本日は20分でご説明し、15分質疑応答のお時間をいただきます
- ゴールは今日この場での即決ではなく、パイロット実施の合意です
【次ページへ】まず本日お伝えする内容を目次でご確認ください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課題→解決策→実績→進め方の順でお話しします
【次ページへ】まず現状の課題からお話しします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【目的】課題パートへの移行
【次ページへ】まず数字で現状を確認します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【目的】課題を数字で共有する
【トーク】
- 出荷件数は右肩上がりだが、これは良いニュースであると同時に現場負荷の増大でもある
- 人員はほぼ横ばいのため、1件あたりの処理効率が低下している
【強調】+43%という伸び率
【想定質問】
- この数値の出典は？
【次ページへ】では、なぜこの差が生まれているのかを見ていきます
【出典】F01,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【目的】「なんとなく忙しい」を構造化する
【トーク】
- 合計値だけでは対策が打てない
- 必要なのは粒度の細かいデータ
【次ページへ】この背景にはもう一つ、市場環境の変化があります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【目的】「なぜ今なのか」を腹落ちさせる
【トーク】
- 増員に頼れない前提での効率化が求められている
【次ページへ】ここで、私たちのアプローチの位置づけをご説明します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【目的】競合との違いを一目で示す
【トーク】
- 私たちは「早く」「原因まで」の両立を狙っている
【想定質問】
- 既存のBIツールと何が違うのか
【次ページへ】具体的な仕組みをご説明します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【目的】導入の心理的ハードルを下げる
【トーク】
- 既存システムの改修が不要な点を強調する
【想定質問】
- 導入にどれくらい時間がかかるか
【次ページへ】実際の画面イメージをご覧ください
【出典】F02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【目的】抽象的な説明を具体化する
【トーク】
- 実際のダッシュボード画面を見せながら説明する（本番では実画面キャプチャに差し替え）
【次ページへ】では実際の効果を、類似拠点の実績でご紹介します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【目的】数字で信頼を積み上げる
【トーク】
- これは類似規模拠点での実績（デモ用の例）です
【強調】-23%
【想定質問】
- 御社の場合も同程度の効果が出るか
【次ページへ】実際に導入いただいたお客様の声もご紹介します
【出典】F03, 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【目的】第三者の声で説得力を補強する
【次ページへ】それでは具体的な進め方をご説明します
【出典】F03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【目的】パイロットの進め方を具体的にイメージしてもらう
【トーク】
- Week1でのデータ接続が最初のマイルストーン
【想定質問】
- 現場の負担はどの程度か
【次ページへ】パイロットで提供する内容を詳細に確認します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【目的】「何が含まれるか」の疑問を解消する
【想定質問】
- 追加費用は発生しないか
【次ページへ】最後に、投資規模についてご説明します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【目的】投資規模の妥当性を伝える
【トーク】
- 本格導入時の費用体系は別途ご説明します
【想定質問】
- 本格導入時の費用は？
【次ページへ】最後に、次の一歩をご提案します
【出典】F04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【目的】明確なアクションを依頼して締める
【トーク】
- 意思決定に必要な情報は本日すべてお伝えした前提で、率直に合意を依頼する
【想定質問】
- 社内稟議にはどの資料が必要か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CloudDesk Analytics ご提案</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現場データを、明日の意思決定に変える</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CloudDesk Analytics株式会社 営業本部　|　2026年8月26日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本日お伝えする5つのこと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現状の課題：コスト増加の実態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課題の構造：見えていない情報</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解決策：CloudDesk Analyticsの仕組み</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実績：類似拠点での成果</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進め方：6週間パイロットのご提案</a:t>
            </a:r>
            <a:endParaRPr lang="en-US" sz="20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920240"/>
            <a:ext cx="2286000" cy="1097280"/>
          </a:xfrm>
          <a:prstGeom prst="rect">
            <a:avLst/>
          </a:prstGeom>
          <a:noFill/>
          <a:ln/>
        </p:spPr>
        <p:txBody>
          <a:bodyPr wrap="square" rtlCol="0" anchor="t"/>
          <a:lstStyle/>
          <a:p>
            <a:pPr algn="l" indent="0" marL="0">
              <a:buNone/>
            </a:pPr>
            <a:r>
              <a:rPr lang="en-US" sz="5400" b="1" dirty="0">
                <a:solidFill>
                  <a:srgbClr val="ED7D31"/>
                </a:solidFill>
                <a:latin typeface="Yu Gothic" pitchFamily="34" charset="0"/>
                <a:ea typeface="Yu Gothic" pitchFamily="34" charset="-122"/>
                <a:cs typeface="Yu Gothic" pitchFamily="34" charset="-120"/>
              </a:rPr>
              <a:t>01</a:t>
            </a:r>
            <a:endParaRPr lang="en-US" sz="5400" dirty="0"/>
          </a:p>
        </p:txBody>
      </p:sp>
      <p:sp>
        <p:nvSpPr>
          <p:cNvPr id="3" name="Text 1"/>
          <p:cNvSpPr/>
          <p:nvPr/>
        </p:nvSpPr>
        <p:spPr>
          <a:xfrm>
            <a:off x="548640" y="2926080"/>
            <a:ext cx="11094415" cy="365760"/>
          </a:xfrm>
          <a:prstGeom prst="rect">
            <a:avLst/>
          </a:prstGeom>
          <a:noFill/>
          <a:ln/>
        </p:spPr>
        <p:txBody>
          <a:bodyPr wrap="square" rtlCol="0" anchor="ctr"/>
          <a:lstStyle/>
          <a:p>
            <a:pPr algn="l" indent="0" marL="0">
              <a:buNone/>
            </a:pPr>
            <a:r>
              <a:rPr lang="en-US" sz="1100" dirty="0">
                <a:solidFill>
                  <a:srgbClr val="FFFFFF"/>
                </a:solidFill>
                <a:latin typeface="Yu Gothic" pitchFamily="34" charset="0"/>
                <a:ea typeface="Yu Gothic" pitchFamily="34" charset="-122"/>
                <a:cs typeface="Yu Gothic" pitchFamily="34" charset="-120"/>
              </a:rPr>
              <a:t>PROBLEM</a:t>
            </a:r>
            <a:endParaRPr lang="en-US" sz="1100" dirty="0"/>
          </a:p>
        </p:txBody>
      </p:sp>
      <p:sp>
        <p:nvSpPr>
          <p:cNvPr id="4" name="Text 2"/>
          <p:cNvSpPr/>
          <p:nvPr/>
        </p:nvSpPr>
        <p:spPr>
          <a:xfrm>
            <a:off x="548640" y="3291840"/>
            <a:ext cx="11094415" cy="1280160"/>
          </a:xfrm>
          <a:prstGeom prst="rect">
            <a:avLst/>
          </a:prstGeom>
          <a:noFill/>
          <a:ln/>
        </p:spPr>
        <p:txBody>
          <a:bodyPr wrap="square" rtlCol="0" anchor="t"/>
          <a:lstStyle/>
          <a:p>
            <a:pPr algn="l" indent="0" marL="0">
              <a:buNone/>
            </a:pPr>
            <a:r>
              <a:rPr lang="en-US" sz="3000" b="1" dirty="0">
                <a:solidFill>
                  <a:srgbClr val="FFFFFF"/>
                </a:solidFill>
                <a:latin typeface="Yu Gothic" pitchFamily="34" charset="0"/>
                <a:ea typeface="Yu Gothic" pitchFamily="34" charset="-122"/>
                <a:cs typeface="Yu Gothic" pitchFamily="34" charset="-120"/>
              </a:rPr>
              <a:t>課題編</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出荷量が伸びるほど1件あたりコストが悪化している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294892"/>
          <a:ext cx="11094415" cy="45115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出荷件数は4四半期で+43%増加した一方、現場人員はほぼ横ばい。この差が1件あたりコスト上昇（過去3年で+18%、demo値）の主因と推測される。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見えている情報と見えていない情報の間に原因がある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502920"/>
          </a:xfrm>
          <a:prstGeom prst="rect">
            <a:avLst/>
          </a:prstGeom>
          <a:solidFill>
            <a:srgbClr val="595959"/>
          </a:solidFill>
          <a:ln/>
        </p:spPr>
      </p:sp>
      <p:sp>
        <p:nvSpPr>
          <p:cNvPr id="5" name="Text 3"/>
          <p:cNvSpPr/>
          <p:nvPr/>
        </p:nvSpPr>
        <p:spPr>
          <a:xfrm>
            <a:off x="548640"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現在見えている情報</a:t>
            </a:r>
            <a:endParaRPr lang="en-US" sz="2000" dirty="0"/>
          </a:p>
        </p:txBody>
      </p:sp>
      <p:sp>
        <p:nvSpPr>
          <p:cNvPr id="6" name="Shape 4"/>
          <p:cNvSpPr/>
          <p:nvPr/>
        </p:nvSpPr>
        <p:spPr>
          <a:xfrm>
            <a:off x="548640" y="1797812"/>
            <a:ext cx="5478628" cy="3646434"/>
          </a:xfrm>
          <a:prstGeom prst="rect">
            <a:avLst/>
          </a:prstGeom>
          <a:solidFill>
            <a:srgbClr val="FFFFFF"/>
          </a:solidFill>
          <a:ln w="12700">
            <a:solidFill>
              <a:srgbClr val="D9D9D9"/>
            </a:solidFill>
            <a:prstDash val="solid"/>
          </a:ln>
        </p:spPr>
      </p:sp>
      <p:sp>
        <p:nvSpPr>
          <p:cNvPr id="7" name="Text 5"/>
          <p:cNvSpPr/>
          <p:nvPr/>
        </p:nvSpPr>
        <p:spPr>
          <a:xfrm>
            <a:off x="685800"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日次の出荷件数合計</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月次の人件費総額</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拠点全体の稼働率</a:t>
            </a:r>
            <a:endParaRPr lang="en-US" sz="1400" dirty="0"/>
          </a:p>
        </p:txBody>
      </p:sp>
      <p:sp>
        <p:nvSpPr>
          <p:cNvPr id="8" name="Shape 6"/>
          <p:cNvSpPr/>
          <p:nvPr/>
        </p:nvSpPr>
        <p:spPr>
          <a:xfrm>
            <a:off x="6164428" y="1294892"/>
            <a:ext cx="5478628" cy="502920"/>
          </a:xfrm>
          <a:prstGeom prst="rect">
            <a:avLst/>
          </a:prstGeom>
          <a:solidFill>
            <a:srgbClr val="1F3864"/>
          </a:solidFill>
          <a:ln/>
        </p:spPr>
      </p:sp>
      <p:sp>
        <p:nvSpPr>
          <p:cNvPr id="9" name="Text 7"/>
          <p:cNvSpPr/>
          <p:nvPr/>
        </p:nvSpPr>
        <p:spPr>
          <a:xfrm>
            <a:off x="6164428" y="1294892"/>
            <a:ext cx="547862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実は見えていない情報</a:t>
            </a:r>
            <a:endParaRPr lang="en-US" sz="2000" dirty="0"/>
          </a:p>
        </p:txBody>
      </p:sp>
      <p:sp>
        <p:nvSpPr>
          <p:cNvPr id="10" name="Shape 8"/>
          <p:cNvSpPr/>
          <p:nvPr/>
        </p:nvSpPr>
        <p:spPr>
          <a:xfrm>
            <a:off x="6164428" y="1797812"/>
            <a:ext cx="5478628" cy="3646434"/>
          </a:xfrm>
          <a:prstGeom prst="rect">
            <a:avLst/>
          </a:prstGeom>
          <a:solidFill>
            <a:srgbClr val="F4F6F9"/>
          </a:solidFill>
          <a:ln w="12700">
            <a:solidFill>
              <a:srgbClr val="D9D9D9"/>
            </a:solidFill>
            <a:prstDash val="solid"/>
          </a:ln>
        </p:spPr>
      </p:sp>
      <p:sp>
        <p:nvSpPr>
          <p:cNvPr id="11" name="Text 9"/>
          <p:cNvSpPr/>
          <p:nvPr/>
        </p:nvSpPr>
        <p:spPr>
          <a:xfrm>
            <a:off x="6301588" y="1934972"/>
            <a:ext cx="5204308" cy="337211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時間帯別のボトルネック</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ドック待ち時間の内訳</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どの工程が遅延の起点か</a:t>
            </a:r>
            <a:endParaRPr lang="en-US" sz="1400" dirty="0"/>
          </a:p>
        </p:txBody>
      </p:sp>
      <p:sp>
        <p:nvSpPr>
          <p:cNvPr id="12" name="Text 10"/>
          <p:cNvSpPr/>
          <p:nvPr/>
        </p:nvSpPr>
        <p:spPr>
          <a:xfrm>
            <a:off x="548640" y="5512826"/>
            <a:ext cx="11094415" cy="84225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集計された数字はあるが、原因を特定できる粒度のデータがない。これが意思決定を遅らせている。</a:t>
            </a:r>
            <a:endParaRPr lang="en-US" sz="1400" dirty="0"/>
          </a:p>
        </p:txBody>
      </p:sp>
      <p:sp>
        <p:nvSpPr>
          <p:cNvPr id="13" name="Text 1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需要変動が激しい今こそ現場の可視化が競争力になる</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5410048" cy="50601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EC化の進展により、出荷量の波が読みにくくなっている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人手不足により、増員による対応には限界がある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だからこそ、今ある人員でボトルネックを特定し解消することが最短の打ち手になる</a:t>
            </a:r>
            <a:endParaRPr lang="en-US" sz="1400" dirty="0"/>
          </a:p>
        </p:txBody>
      </p:sp>
      <p:sp>
        <p:nvSpPr>
          <p:cNvPr id="5" name="Shape 3"/>
          <p:cNvSpPr/>
          <p:nvPr/>
        </p:nvSpPr>
        <p:spPr>
          <a:xfrm>
            <a:off x="6233008" y="1294892"/>
            <a:ext cx="5410048" cy="5060188"/>
          </a:xfrm>
          <a:prstGeom prst="rect">
            <a:avLst/>
          </a:prstGeom>
          <a:solidFill>
            <a:srgbClr val="F4F6F9"/>
          </a:solidFill>
          <a:ln w="12700">
            <a:solidFill>
              <a:srgbClr val="D9D9D9"/>
            </a:solidFill>
            <a:prstDash val="solid"/>
          </a:ln>
        </p:spPr>
      </p:sp>
      <p:sp>
        <p:nvSpPr>
          <p:cNvPr id="6" name="Text 4"/>
          <p:cNvSpPr/>
          <p:nvPr/>
        </p:nvSpPr>
        <p:spPr>
          <a:xfrm>
            <a:off x="6233008" y="1294892"/>
            <a:ext cx="5410048" cy="50601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需要変動と労働力のギャップを示す模式図（イメージ）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簡易ダッシュボードでは検知できない領域を私たちは狙う</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5478628" cy="2461514"/>
          </a:xfrm>
          <a:prstGeom prst="rect">
            <a:avLst/>
          </a:prstGeom>
          <a:solidFill>
            <a:srgbClr val="F4F6F9"/>
          </a:solidFill>
          <a:ln w="12700">
            <a:solidFill>
              <a:srgbClr val="D9D9D9"/>
            </a:solidFill>
            <a:prstDash val="solid"/>
          </a:ln>
        </p:spPr>
      </p:sp>
      <p:sp>
        <p:nvSpPr>
          <p:cNvPr id="5" name="Text 3"/>
          <p:cNvSpPr/>
          <p:nvPr/>
        </p:nvSpPr>
        <p:spPr>
          <a:xfrm>
            <a:off x="685800" y="13863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汎用BIツール</a:t>
            </a:r>
            <a:endParaRPr lang="en-US" sz="1400" dirty="0"/>
          </a:p>
        </p:txBody>
      </p:sp>
      <p:sp>
        <p:nvSpPr>
          <p:cNvPr id="6" name="Text 4"/>
          <p:cNvSpPr/>
          <p:nvPr/>
        </p:nvSpPr>
        <p:spPr>
          <a:xfrm>
            <a:off x="685800"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導入は容易</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原因分析は手動</a:t>
            </a:r>
            <a:endParaRPr lang="en-US" sz="1100" dirty="0"/>
          </a:p>
        </p:txBody>
      </p:sp>
      <p:sp>
        <p:nvSpPr>
          <p:cNvPr id="7" name="Shape 5"/>
          <p:cNvSpPr/>
          <p:nvPr/>
        </p:nvSpPr>
        <p:spPr>
          <a:xfrm>
            <a:off x="6164428" y="1294892"/>
            <a:ext cx="5478628" cy="2461514"/>
          </a:xfrm>
          <a:prstGeom prst="rect">
            <a:avLst/>
          </a:prstGeom>
          <a:solidFill>
            <a:srgbClr val="1F3864"/>
          </a:solidFill>
          <a:ln w="12700">
            <a:solidFill>
              <a:srgbClr val="D9D9D9"/>
            </a:solidFill>
            <a:prstDash val="solid"/>
          </a:ln>
        </p:spPr>
      </p:sp>
      <p:sp>
        <p:nvSpPr>
          <p:cNvPr id="8" name="Text 6"/>
          <p:cNvSpPr/>
          <p:nvPr/>
        </p:nvSpPr>
        <p:spPr>
          <a:xfrm>
            <a:off x="6301588" y="13863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CloudDesk Analytics</a:t>
            </a:r>
            <a:endParaRPr lang="en-US" sz="1400" dirty="0"/>
          </a:p>
        </p:txBody>
      </p:sp>
      <p:sp>
        <p:nvSpPr>
          <p:cNvPr id="9" name="Text 7"/>
          <p:cNvSpPr/>
          <p:nvPr/>
        </p:nvSpPr>
        <p:spPr>
          <a:xfrm>
            <a:off x="6301588" y="1752092"/>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48時間で接続完了</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ボトルネックを自動検知</a:t>
            </a:r>
            <a:endParaRPr lang="en-US" sz="1100" dirty="0"/>
          </a:p>
        </p:txBody>
      </p:sp>
      <p:sp>
        <p:nvSpPr>
          <p:cNvPr id="10" name="Shape 8"/>
          <p:cNvSpPr/>
          <p:nvPr/>
        </p:nvSpPr>
        <p:spPr>
          <a:xfrm>
            <a:off x="548640" y="3893566"/>
            <a:ext cx="5478628" cy="2461514"/>
          </a:xfrm>
          <a:prstGeom prst="rect">
            <a:avLst/>
          </a:prstGeom>
          <a:solidFill>
            <a:srgbClr val="1F3864"/>
          </a:solidFill>
          <a:ln w="12700">
            <a:solidFill>
              <a:srgbClr val="D9D9D9"/>
            </a:solidFill>
            <a:prstDash val="solid"/>
          </a:ln>
        </p:spPr>
      </p:sp>
      <p:sp>
        <p:nvSpPr>
          <p:cNvPr id="11" name="Text 9"/>
          <p:cNvSpPr/>
          <p:nvPr/>
        </p:nvSpPr>
        <p:spPr>
          <a:xfrm>
            <a:off x="685800" y="398500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紙・Excel運用</a:t>
            </a:r>
            <a:endParaRPr lang="en-US" sz="1400" dirty="0"/>
          </a:p>
        </p:txBody>
      </p:sp>
      <p:sp>
        <p:nvSpPr>
          <p:cNvPr id="12" name="Text 10"/>
          <p:cNvSpPr/>
          <p:nvPr/>
        </p:nvSpPr>
        <p:spPr>
          <a:xfrm>
            <a:off x="685800"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柔軟だが属人的</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リアルタイム性なし</a:t>
            </a:r>
            <a:endParaRPr lang="en-US" sz="1100" dirty="0"/>
          </a:p>
        </p:txBody>
      </p:sp>
      <p:sp>
        <p:nvSpPr>
          <p:cNvPr id="13" name="Shape 11"/>
          <p:cNvSpPr/>
          <p:nvPr/>
        </p:nvSpPr>
        <p:spPr>
          <a:xfrm>
            <a:off x="6164428" y="3893566"/>
            <a:ext cx="5478628" cy="2461514"/>
          </a:xfrm>
          <a:prstGeom prst="rect">
            <a:avLst/>
          </a:prstGeom>
          <a:solidFill>
            <a:srgbClr val="F4F6F9"/>
          </a:solidFill>
          <a:ln w="12700">
            <a:solidFill>
              <a:srgbClr val="D9D9D9"/>
            </a:solidFill>
            <a:prstDash val="solid"/>
          </a:ln>
        </p:spPr>
      </p:sp>
      <p:sp>
        <p:nvSpPr>
          <p:cNvPr id="14" name="Text 12"/>
          <p:cNvSpPr/>
          <p:nvPr/>
        </p:nvSpPr>
        <p:spPr>
          <a:xfrm>
            <a:off x="6301588" y="398500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大規模ERP追加モジュール</a:t>
            </a:r>
            <a:endParaRPr lang="en-US" sz="1400" dirty="0"/>
          </a:p>
        </p:txBody>
      </p:sp>
      <p:sp>
        <p:nvSpPr>
          <p:cNvPr id="15" name="Text 13"/>
          <p:cNvSpPr/>
          <p:nvPr/>
        </p:nvSpPr>
        <p:spPr>
          <a:xfrm>
            <a:off x="6301588" y="4350766"/>
            <a:ext cx="5204308" cy="191287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高機能だが導入に半年〜</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左：可視化のみ　→　右：原因特定まで踏み込む</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導入から改善提案までを4ステップで完結</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2819146"/>
            <a:ext cx="2533574"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データ接続</a:t>
            </a:r>
            <a:endParaRPr lang="en-US" sz="1400" dirty="0"/>
          </a:p>
        </p:txBody>
      </p:sp>
      <p:sp>
        <p:nvSpPr>
          <p:cNvPr id="7" name="Text 5"/>
          <p:cNvSpPr/>
          <p:nvPr/>
        </p:nvSpPr>
        <p:spPr>
          <a:xfrm>
            <a:off x="658368"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既存WMS・シフト表と連携（改修不要）</a:t>
            </a:r>
            <a:endParaRPr lang="en-US" sz="1100" dirty="0"/>
          </a:p>
        </p:txBody>
      </p:sp>
      <p:sp>
        <p:nvSpPr>
          <p:cNvPr id="8" name="Text 6"/>
          <p:cNvSpPr/>
          <p:nvPr/>
        </p:nvSpPr>
        <p:spPr>
          <a:xfrm>
            <a:off x="3082214"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3402254" y="2819146"/>
            <a:ext cx="2533574"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3493694"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3511982"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ボトルネック検知</a:t>
            </a:r>
            <a:endParaRPr lang="en-US" sz="1400" dirty="0"/>
          </a:p>
        </p:txBody>
      </p:sp>
      <p:sp>
        <p:nvSpPr>
          <p:cNvPr id="12" name="Text 10"/>
          <p:cNvSpPr/>
          <p:nvPr/>
        </p:nvSpPr>
        <p:spPr>
          <a:xfrm>
            <a:off x="3511982"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時間帯・工程別に自動で特定</a:t>
            </a:r>
            <a:endParaRPr lang="en-US" sz="1100" dirty="0"/>
          </a:p>
        </p:txBody>
      </p:sp>
      <p:sp>
        <p:nvSpPr>
          <p:cNvPr id="13" name="Text 11"/>
          <p:cNvSpPr/>
          <p:nvPr/>
        </p:nvSpPr>
        <p:spPr>
          <a:xfrm>
            <a:off x="5935828"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6255868" y="2819146"/>
            <a:ext cx="2533574" cy="2011680"/>
          </a:xfrm>
          <a:prstGeom prst="roundRect">
            <a:avLst>
              <a:gd name="adj" fmla="val 3636"/>
            </a:avLst>
          </a:prstGeom>
          <a:solidFill>
            <a:srgbClr val="F4F6F9"/>
          </a:solidFill>
          <a:ln w="12700">
            <a:solidFill>
              <a:srgbClr val="D9D9D9"/>
            </a:solidFill>
            <a:prstDash val="solid"/>
          </a:ln>
        </p:spPr>
      </p:sp>
      <p:sp>
        <p:nvSpPr>
          <p:cNvPr id="15" name="Text 13"/>
          <p:cNvSpPr/>
          <p:nvPr/>
        </p:nvSpPr>
        <p:spPr>
          <a:xfrm>
            <a:off x="6347308"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6365596" y="3276346"/>
            <a:ext cx="2314118"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改善提案</a:t>
            </a:r>
            <a:endParaRPr lang="en-US" sz="1400" dirty="0"/>
          </a:p>
        </p:txBody>
      </p:sp>
      <p:sp>
        <p:nvSpPr>
          <p:cNvPr id="17" name="Text 15"/>
          <p:cNvSpPr/>
          <p:nvPr/>
        </p:nvSpPr>
        <p:spPr>
          <a:xfrm>
            <a:off x="6365596" y="3824986"/>
            <a:ext cx="2314118"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優先度付きで具体策を提示</a:t>
            </a:r>
            <a:endParaRPr lang="en-US" sz="1100" dirty="0"/>
          </a:p>
        </p:txBody>
      </p:sp>
      <p:sp>
        <p:nvSpPr>
          <p:cNvPr id="18" name="Text 16"/>
          <p:cNvSpPr/>
          <p:nvPr/>
        </p:nvSpPr>
        <p:spPr>
          <a:xfrm>
            <a:off x="8789441" y="364210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9" name="Shape 17"/>
          <p:cNvSpPr/>
          <p:nvPr/>
        </p:nvSpPr>
        <p:spPr>
          <a:xfrm>
            <a:off x="9109481" y="2819146"/>
            <a:ext cx="2533574" cy="2011680"/>
          </a:xfrm>
          <a:prstGeom prst="roundRect">
            <a:avLst>
              <a:gd name="adj" fmla="val 3636"/>
            </a:avLst>
          </a:prstGeom>
          <a:solidFill>
            <a:srgbClr val="1F3864"/>
          </a:solidFill>
          <a:ln w="12700">
            <a:solidFill>
              <a:srgbClr val="D9D9D9"/>
            </a:solidFill>
            <a:prstDash val="solid"/>
          </a:ln>
        </p:spPr>
      </p:sp>
      <p:sp>
        <p:nvSpPr>
          <p:cNvPr id="20" name="Text 18"/>
          <p:cNvSpPr/>
          <p:nvPr/>
        </p:nvSpPr>
        <p:spPr>
          <a:xfrm>
            <a:off x="9200921" y="289229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4</a:t>
            </a:r>
            <a:endParaRPr lang="en-US" sz="2000" dirty="0"/>
          </a:p>
        </p:txBody>
      </p:sp>
      <p:sp>
        <p:nvSpPr>
          <p:cNvPr id="21" name="Text 19"/>
          <p:cNvSpPr/>
          <p:nvPr/>
        </p:nvSpPr>
        <p:spPr>
          <a:xfrm>
            <a:off x="9219209" y="3276346"/>
            <a:ext cx="2314118"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継続モニタリング</a:t>
            </a:r>
            <a:endParaRPr lang="en-US" sz="1400" dirty="0"/>
          </a:p>
        </p:txBody>
      </p:sp>
      <p:sp>
        <p:nvSpPr>
          <p:cNvPr id="22" name="Text 20"/>
          <p:cNvSpPr/>
          <p:nvPr/>
        </p:nvSpPr>
        <p:spPr>
          <a:xfrm>
            <a:off x="9219209" y="3824986"/>
            <a:ext cx="2314118"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効果を数値で継続確認</a:t>
            </a:r>
            <a:endParaRPr lang="en-US" sz="1100" dirty="0"/>
          </a:p>
        </p:txBody>
      </p:sp>
      <p:sp>
        <p:nvSpPr>
          <p:cNvPr id="23" name="Text 21"/>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9"/>
          </a:solidFill>
          <a:ln w="12700">
            <a:solidFill>
              <a:srgbClr val="D9D9D9"/>
            </a:solidFill>
            <a:prstDash val="solid"/>
          </a:ln>
        </p:spPr>
      </p:sp>
      <p:sp>
        <p:nvSpPr>
          <p:cNvPr id="3" name="Text 1"/>
          <p:cNvSpPr/>
          <p:nvPr/>
        </p:nvSpPr>
        <p:spPr>
          <a:xfrm>
            <a:off x="0" y="0"/>
            <a:ext cx="12191695" cy="6858000"/>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製品ダッシュボード画面イメージ（プレースホルダー）</a:t>
            </a:r>
            <a:endParaRPr lang="en-US" sz="1100" dirty="0"/>
          </a:p>
        </p:txBody>
      </p:sp>
      <p:sp>
        <p:nvSpPr>
          <p:cNvPr id="4" name="Shape 2"/>
          <p:cNvSpPr/>
          <p:nvPr/>
        </p:nvSpPr>
        <p:spPr>
          <a:xfrm>
            <a:off x="0" y="5669280"/>
            <a:ext cx="12191695" cy="1188720"/>
          </a:xfrm>
          <a:prstGeom prst="rect">
            <a:avLst/>
          </a:prstGeom>
          <a:solidFill>
            <a:srgbClr val="1F3864">
              <a:alpha val="85000"/>
            </a:srgbClr>
          </a:solidFill>
          <a:ln/>
        </p:spPr>
      </p:sp>
      <p:sp>
        <p:nvSpPr>
          <p:cNvPr id="5" name="Text 3"/>
          <p:cNvSpPr/>
          <p:nvPr/>
        </p:nvSpPr>
        <p:spPr>
          <a:xfrm>
            <a:off x="548640" y="5669280"/>
            <a:ext cx="11094415" cy="772668"/>
          </a:xfrm>
          <a:prstGeom prst="rect">
            <a:avLst/>
          </a:prstGeom>
          <a:noFill/>
          <a:ln/>
        </p:spPr>
        <p:txBody>
          <a:bodyPr wrap="square" rtlCol="0" anchor="b"/>
          <a:lstStyle/>
          <a:p>
            <a:pPr algn="l" indent="0" marL="0">
              <a:buNone/>
            </a:pPr>
            <a:r>
              <a:rPr lang="en-US" sz="2800" b="1" dirty="0">
                <a:solidFill>
                  <a:srgbClr val="FFFFFF"/>
                </a:solidFill>
                <a:latin typeface="Yu Gothic" pitchFamily="34" charset="0"/>
                <a:ea typeface="Yu Gothic" pitchFamily="34" charset="-122"/>
                <a:cs typeface="Yu Gothic" pitchFamily="34" charset="-120"/>
              </a:rPr>
              <a:t>現場はそのままに、見える化だけを追加</a:t>
            </a:r>
            <a:endParaRPr lang="en-US" sz="2800" dirty="0"/>
          </a:p>
        </p:txBody>
      </p:sp>
      <p:sp>
        <p:nvSpPr>
          <p:cNvPr id="6" name="Text 4"/>
          <p:cNvSpPr/>
          <p:nvPr/>
        </p:nvSpPr>
        <p:spPr>
          <a:xfrm>
            <a:off x="548640" y="6382512"/>
            <a:ext cx="11094415" cy="416052"/>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実際の画面イメージ（デモ用プレースホルダー）</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類似規模の物流拠点で手待ち時間23%削減を実証</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1294892"/>
            <a:ext cx="3606698" cy="3643335"/>
          </a:xfrm>
          <a:prstGeom prst="roundRect">
            <a:avLst>
              <a:gd name="adj" fmla="val 1521"/>
            </a:avLst>
          </a:prstGeom>
          <a:solidFill>
            <a:srgbClr val="F4F6F9"/>
          </a:solidFill>
          <a:ln w="12700">
            <a:solidFill>
              <a:srgbClr val="D9D9D9"/>
            </a:solidFill>
            <a:prstDash val="solid"/>
          </a:ln>
        </p:spPr>
      </p:sp>
      <p:sp>
        <p:nvSpPr>
          <p:cNvPr id="5" name="Text 3"/>
          <p:cNvSpPr/>
          <p:nvPr/>
        </p:nvSpPr>
        <p:spPr>
          <a:xfrm>
            <a:off x="685800"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-23%</a:t>
            </a:r>
            <a:endParaRPr lang="en-US" sz="2800" dirty="0"/>
          </a:p>
        </p:txBody>
      </p:sp>
      <p:sp>
        <p:nvSpPr>
          <p:cNvPr id="6" name="Text 4"/>
          <p:cNvSpPr/>
          <p:nvPr/>
        </p:nvSpPr>
        <p:spPr>
          <a:xfrm>
            <a:off x="640080"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手待ち時間削減</a:t>
            </a:r>
            <a:endParaRPr lang="en-US" sz="1100" dirty="0"/>
          </a:p>
        </p:txBody>
      </p:sp>
      <p:sp>
        <p:nvSpPr>
          <p:cNvPr id="7" name="Text 5"/>
          <p:cNvSpPr/>
          <p:nvPr/>
        </p:nvSpPr>
        <p:spPr>
          <a:xfrm>
            <a:off x="640080" y="4282427"/>
            <a:ext cx="3423818" cy="546500"/>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6週間で達成</a:t>
            </a:r>
            <a:endParaRPr lang="en-US" sz="1100" dirty="0"/>
          </a:p>
        </p:txBody>
      </p:sp>
      <p:sp>
        <p:nvSpPr>
          <p:cNvPr id="8" name="Shape 6"/>
          <p:cNvSpPr/>
          <p:nvPr/>
        </p:nvSpPr>
        <p:spPr>
          <a:xfrm>
            <a:off x="4292498" y="1294892"/>
            <a:ext cx="3606698" cy="3643335"/>
          </a:xfrm>
          <a:prstGeom prst="roundRect">
            <a:avLst>
              <a:gd name="adj" fmla="val 1521"/>
            </a:avLst>
          </a:prstGeom>
          <a:solidFill>
            <a:srgbClr val="F4F6F9"/>
          </a:solidFill>
          <a:ln w="12700">
            <a:solidFill>
              <a:srgbClr val="D9D9D9"/>
            </a:solidFill>
            <a:prstDash val="solid"/>
          </a:ln>
        </p:spPr>
      </p:sp>
      <p:sp>
        <p:nvSpPr>
          <p:cNvPr id="9" name="Text 7"/>
          <p:cNvSpPr/>
          <p:nvPr/>
        </p:nvSpPr>
        <p:spPr>
          <a:xfrm>
            <a:off x="4429658"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48時間</a:t>
            </a:r>
            <a:endParaRPr lang="en-US" sz="2800" dirty="0"/>
          </a:p>
        </p:txBody>
      </p:sp>
      <p:sp>
        <p:nvSpPr>
          <p:cNvPr id="10" name="Text 8"/>
          <p:cNvSpPr/>
          <p:nvPr/>
        </p:nvSpPr>
        <p:spPr>
          <a:xfrm>
            <a:off x="4383938"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データ接続完了まで</a:t>
            </a:r>
            <a:endParaRPr lang="en-US" sz="1100" dirty="0"/>
          </a:p>
        </p:txBody>
      </p:sp>
      <p:sp>
        <p:nvSpPr>
          <p:cNvPr id="11" name="Text 9"/>
          <p:cNvSpPr/>
          <p:nvPr/>
        </p:nvSpPr>
        <p:spPr>
          <a:xfrm>
            <a:off x="4383938"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改修なし</a:t>
            </a:r>
            <a:endParaRPr lang="en-US" sz="1100" dirty="0"/>
          </a:p>
        </p:txBody>
      </p:sp>
      <p:sp>
        <p:nvSpPr>
          <p:cNvPr id="12" name="Shape 10"/>
          <p:cNvSpPr/>
          <p:nvPr/>
        </p:nvSpPr>
        <p:spPr>
          <a:xfrm>
            <a:off x="8036357" y="1294892"/>
            <a:ext cx="3606698" cy="3643335"/>
          </a:xfrm>
          <a:prstGeom prst="roundRect">
            <a:avLst>
              <a:gd name="adj" fmla="val 1521"/>
            </a:avLst>
          </a:prstGeom>
          <a:solidFill>
            <a:srgbClr val="F4F6F9"/>
          </a:solidFill>
          <a:ln w="12700">
            <a:solidFill>
              <a:srgbClr val="D9D9D9"/>
            </a:solidFill>
            <a:prstDash val="solid"/>
          </a:ln>
        </p:spPr>
      </p:sp>
      <p:sp>
        <p:nvSpPr>
          <p:cNvPr id="13" name="Text 11"/>
          <p:cNvSpPr/>
          <p:nvPr/>
        </p:nvSpPr>
        <p:spPr>
          <a:xfrm>
            <a:off x="8173517" y="1950692"/>
            <a:ext cx="3332378" cy="1457334"/>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6週間</a:t>
            </a:r>
            <a:endParaRPr lang="en-US" sz="2800" dirty="0"/>
          </a:p>
        </p:txBody>
      </p:sp>
      <p:sp>
        <p:nvSpPr>
          <p:cNvPr id="14" name="Text 12"/>
          <p:cNvSpPr/>
          <p:nvPr/>
        </p:nvSpPr>
        <p:spPr>
          <a:xfrm>
            <a:off x="8127797" y="3408027"/>
            <a:ext cx="3423818" cy="91083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パイロット期間</a:t>
            </a:r>
            <a:endParaRPr lang="en-US" sz="1100" dirty="0"/>
          </a:p>
        </p:txBody>
      </p:sp>
      <p:sp>
        <p:nvSpPr>
          <p:cNvPr id="15" name="Text 13"/>
          <p:cNvSpPr/>
          <p:nvPr/>
        </p:nvSpPr>
        <p:spPr>
          <a:xfrm>
            <a:off x="8127797" y="4282427"/>
            <a:ext cx="3423818" cy="546500"/>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本格導入前に効果検証</a:t>
            </a:r>
            <a:endParaRPr lang="en-US" sz="1100" dirty="0"/>
          </a:p>
        </p:txBody>
      </p:sp>
      <p:sp>
        <p:nvSpPr>
          <p:cNvPr id="16" name="Text 14"/>
          <p:cNvSpPr/>
          <p:nvPr/>
        </p:nvSpPr>
        <p:spPr>
          <a:xfrm>
            <a:off x="548640" y="5075387"/>
            <a:ext cx="11094415" cy="127969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小さく始めて数字で効果を確認できることが、この進め方の最大の利点です。</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920240"/>
            <a:ext cx="73152" cy="2743200"/>
          </a:xfrm>
          <a:prstGeom prst="rect">
            <a:avLst/>
          </a:prstGeom>
          <a:solidFill>
            <a:srgbClr val="ED7D31"/>
          </a:solidFill>
          <a:ln/>
        </p:spPr>
      </p:sp>
      <p:sp>
        <p:nvSpPr>
          <p:cNvPr id="3" name="Text 1"/>
          <p:cNvSpPr/>
          <p:nvPr/>
        </p:nvSpPr>
        <p:spPr>
          <a:xfrm>
            <a:off x="548640" y="548640"/>
            <a:ext cx="11094415" cy="365760"/>
          </a:xfrm>
          <a:prstGeom prst="rect">
            <a:avLst/>
          </a:prstGeom>
          <a:noFill/>
          <a:ln/>
        </p:spPr>
        <p:txBody>
          <a:bodyPr wrap="square" rtlCol="0" anchor="ctr"/>
          <a:lstStyle/>
          <a:p>
            <a:pPr algn="l" indent="0" marL="0">
              <a:buNone/>
            </a:pPr>
            <a:r>
              <a:rPr lang="en-US" sz="1100" b="1" dirty="0">
                <a:solidFill>
                  <a:srgbClr val="595959"/>
                </a:solidFill>
                <a:latin typeface="Yu Gothic" pitchFamily="34" charset="0"/>
                <a:ea typeface="Yu Gothic" pitchFamily="34" charset="-122"/>
                <a:cs typeface="Yu Gothic" pitchFamily="34" charset="-120"/>
              </a:rPr>
              <a:t>導入企業様の声（デモ用の例）</a:t>
            </a:r>
            <a:endParaRPr lang="en-US" sz="1100" dirty="0"/>
          </a:p>
        </p:txBody>
      </p:sp>
      <p:sp>
        <p:nvSpPr>
          <p:cNvPr id="4" name="Text 2"/>
          <p:cNvSpPr/>
          <p:nvPr/>
        </p:nvSpPr>
        <p:spPr>
          <a:xfrm>
            <a:off x="822960" y="1920240"/>
            <a:ext cx="10820095" cy="2743200"/>
          </a:xfrm>
          <a:prstGeom prst="rect">
            <a:avLst/>
          </a:prstGeom>
          <a:noFill/>
          <a:ln/>
        </p:spPr>
        <p:txBody>
          <a:bodyPr wrap="square" rtlCol="0" anchor="ctr"/>
          <a:lstStyle/>
          <a:p>
            <a:pPr algn="l" indent="0" marL="0">
              <a:buNone/>
            </a:pPr>
            <a:r>
              <a:rPr lang="en-US" sz="2800" i="1" dirty="0">
                <a:solidFill>
                  <a:srgbClr val="1A1A1A"/>
                </a:solidFill>
                <a:latin typeface="Yu Gothic" pitchFamily="34" charset="0"/>
                <a:ea typeface="Yu Gothic" pitchFamily="34" charset="-122"/>
                <a:cs typeface="Yu Gothic" pitchFamily="34" charset="-120"/>
              </a:rPr>
              <a:t>“導入後3週間で、どの工程がボトルネックなのか初めて数字で説明できるようになりました。”</a:t>
            </a:r>
            <a:endParaRPr lang="en-US" sz="2800" dirty="0"/>
          </a:p>
        </p:txBody>
      </p:sp>
      <p:sp>
        <p:nvSpPr>
          <p:cNvPr id="5" name="Text 3"/>
          <p:cNvSpPr/>
          <p:nvPr/>
        </p:nvSpPr>
        <p:spPr>
          <a:xfrm>
            <a:off x="822960" y="4663440"/>
            <a:ext cx="10820095" cy="365760"/>
          </a:xfrm>
          <a:prstGeom prst="rect">
            <a:avLst/>
          </a:prstGeom>
          <a:noFill/>
          <a:ln/>
        </p:spPr>
        <p:txBody>
          <a:bodyPr wrap="square" rtlCol="0" anchor="ctr"/>
          <a:lstStyle/>
          <a:p>
            <a:pPr algn="l" indent="0" marL="0">
              <a:buNone/>
            </a:pPr>
            <a:r>
              <a:rPr lang="en-US" sz="1400" dirty="0">
                <a:solidFill>
                  <a:srgbClr val="595959"/>
                </a:solidFill>
                <a:latin typeface="Yu Gothic" pitchFamily="34" charset="0"/>
                <a:ea typeface="Yu Gothic" pitchFamily="34" charset="-122"/>
                <a:cs typeface="Yu Gothic" pitchFamily="34" charset="-120"/>
              </a:rPr>
              <a:t>— 物流拠点 運営責任者様（デモ用の例）</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6週間で成果を確認できるスケジュールを用意</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Shape 2"/>
          <p:cNvSpPr/>
          <p:nvPr/>
        </p:nvSpPr>
        <p:spPr>
          <a:xfrm>
            <a:off x="548640" y="3571977"/>
            <a:ext cx="11094415" cy="0"/>
          </a:xfrm>
          <a:prstGeom prst="line">
            <a:avLst/>
          </a:prstGeom>
          <a:noFill/>
          <a:ln w="25400">
            <a:solidFill>
              <a:srgbClr val="D9D9D9"/>
            </a:solidFill>
            <a:prstDash val="solid"/>
          </a:ln>
        </p:spPr>
      </p:sp>
      <p:sp>
        <p:nvSpPr>
          <p:cNvPr id="5" name="Shape 3"/>
          <p:cNvSpPr/>
          <p:nvPr/>
        </p:nvSpPr>
        <p:spPr>
          <a:xfrm>
            <a:off x="1853146" y="3489681"/>
            <a:ext cx="164592" cy="164592"/>
          </a:xfrm>
          <a:prstGeom prst="ellipse">
            <a:avLst/>
          </a:prstGeom>
          <a:solidFill>
            <a:srgbClr val="ED7D31"/>
          </a:solidFill>
          <a:ln w="12700">
            <a:solidFill>
              <a:srgbClr val="ED7D31"/>
            </a:solidFill>
            <a:prstDash val="solid"/>
          </a:ln>
        </p:spPr>
      </p:sp>
      <p:sp>
        <p:nvSpPr>
          <p:cNvPr id="6" name="Text 4"/>
          <p:cNvSpPr/>
          <p:nvPr/>
        </p:nvSpPr>
        <p:spPr>
          <a:xfrm>
            <a:off x="594360"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1</a:t>
            </a:r>
            <a:endParaRPr lang="en-US" sz="1100" dirty="0"/>
          </a:p>
        </p:txBody>
      </p:sp>
      <p:sp>
        <p:nvSpPr>
          <p:cNvPr id="7" name="Text 5"/>
          <p:cNvSpPr/>
          <p:nvPr/>
        </p:nvSpPr>
        <p:spPr>
          <a:xfrm>
            <a:off x="594360"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キックオフ・データ接続</a:t>
            </a:r>
            <a:endParaRPr lang="en-US" sz="1400" dirty="0"/>
          </a:p>
        </p:txBody>
      </p:sp>
      <p:sp>
        <p:nvSpPr>
          <p:cNvPr id="8" name="Shape 6"/>
          <p:cNvSpPr/>
          <p:nvPr/>
        </p:nvSpPr>
        <p:spPr>
          <a:xfrm>
            <a:off x="4626750" y="3489681"/>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2-3</a:t>
            </a:r>
            <a:endParaRPr lang="en-US" sz="1100" dirty="0"/>
          </a:p>
        </p:txBody>
      </p:sp>
      <p:sp>
        <p:nvSpPr>
          <p:cNvPr id="10" name="Text 8"/>
          <p:cNvSpPr/>
          <p:nvPr/>
        </p:nvSpPr>
        <p:spPr>
          <a:xfrm>
            <a:off x="3367964"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ベースライン分析</a:t>
            </a:r>
            <a:endParaRPr lang="en-US" sz="1400" dirty="0"/>
          </a:p>
        </p:txBody>
      </p:sp>
      <p:sp>
        <p:nvSpPr>
          <p:cNvPr id="11" name="Shape 9"/>
          <p:cNvSpPr/>
          <p:nvPr/>
        </p:nvSpPr>
        <p:spPr>
          <a:xfrm>
            <a:off x="7400354" y="3489681"/>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4-5</a:t>
            </a:r>
            <a:endParaRPr lang="en-US" sz="1100" dirty="0"/>
          </a:p>
        </p:txBody>
      </p:sp>
      <p:sp>
        <p:nvSpPr>
          <p:cNvPr id="13" name="Text 11"/>
          <p:cNvSpPr/>
          <p:nvPr/>
        </p:nvSpPr>
        <p:spPr>
          <a:xfrm>
            <a:off x="6141568"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改善施策の試行</a:t>
            </a:r>
            <a:endParaRPr lang="en-US" sz="1400" dirty="0"/>
          </a:p>
        </p:txBody>
      </p:sp>
      <p:sp>
        <p:nvSpPr>
          <p:cNvPr id="14" name="Shape 12"/>
          <p:cNvSpPr/>
          <p:nvPr/>
        </p:nvSpPr>
        <p:spPr>
          <a:xfrm>
            <a:off x="10173957" y="3489681"/>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9057"/>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Week 6</a:t>
            </a:r>
            <a:endParaRPr lang="en-US" sz="1100" dirty="0"/>
          </a:p>
        </p:txBody>
      </p:sp>
      <p:sp>
        <p:nvSpPr>
          <p:cNvPr id="16" name="Text 14"/>
          <p:cNvSpPr/>
          <p:nvPr/>
        </p:nvSpPr>
        <p:spPr>
          <a:xfrm>
            <a:off x="8915171" y="3754857"/>
            <a:ext cx="2682164" cy="2277085"/>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成果レビュー・本格導入判断</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パイロットで提供する内容はこちらの通り</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94892"/>
          <a:ext cx="11094415" cy="4602988"/>
        </p:xfrm>
        <a:graphic>
          <a:graphicData uri="http://schemas.openxmlformats.org/drawingml/2006/table">
            <a:tbl>
              <a:tblPr/>
              <a:tblGrid>
                <a:gridCol w="3698138"/>
                <a:gridCol w="3698138"/>
                <a:gridCol w="3698138"/>
              </a:tblGrid>
              <a:tr h="9205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備考</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データ接続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WMS・シフト表との連携設定</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既存システム改修なし</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分析レポート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週次ボトルネックレポート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PDF/ダッシュボード両対応</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改善提案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優先度付きアクションリスト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隔週で更新</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9205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サポート</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専任担当者によるオンライン支援</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週1回定例MTG</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パイロット費用に全項目が含まれ、追加費用は発生しません（demo値）。</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初期投資はパイロット期間中¥1.2M</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2783103"/>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¥1.2M</a:t>
            </a:r>
            <a:endParaRPr lang="en-US" sz="7200" dirty="0"/>
          </a:p>
        </p:txBody>
      </p:sp>
      <p:sp>
        <p:nvSpPr>
          <p:cNvPr id="5" name="Text 3"/>
          <p:cNvSpPr/>
          <p:nvPr/>
        </p:nvSpPr>
        <p:spPr>
          <a:xfrm>
            <a:off x="548640" y="4077995"/>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6週間パイロット費用（demo値、税別）</a:t>
            </a:r>
            <a:endParaRPr lang="en-US" sz="2000" dirty="0"/>
          </a:p>
        </p:txBody>
      </p:sp>
      <p:sp>
        <p:nvSpPr>
          <p:cNvPr id="6" name="Text 4"/>
          <p:cNvSpPr/>
          <p:nvPr/>
        </p:nvSpPr>
        <p:spPr>
          <a:xfrm>
            <a:off x="1658082" y="4837024"/>
            <a:ext cx="8875532" cy="151805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本格導入前に、限定範囲で効果を検証できる規模に抑えています。</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まずは1拠点・6週間のパイロットから</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11094415" cy="37343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出荷量増加に対し、現場の可視化が追いついていない</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CloudDesk Analyticsは既存システム改修なしで48時間以内に稼働</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類似拠点では6週間で手待ち時間23%削減を実証（demo値）</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本日中に1拠点でのパイロット開始について合意いただき、来週中にキックオフ日程を確定させたいと考えております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CloudDesk Analytics ご提案 — Meridian Logistics様向け</dc:title>
  <dc:subject>PptxGenJS Presentation</dc:subject>
  <dc:creator>CloudDesk Analytics株式会社</dc:creator>
  <cp:lastModifiedBy>CloudDesk Analytics株式会社</cp:lastModifiedBy>
  <cp:revision>1</cp:revision>
  <dcterms:created xsi:type="dcterms:W3CDTF">2026-08-26T09:11:47Z</dcterms:created>
  <dcterms:modified xsi:type="dcterms:W3CDTF">2026-08-26T09:11:47Z</dcterms:modified>
</cp:coreProperties>
</file>